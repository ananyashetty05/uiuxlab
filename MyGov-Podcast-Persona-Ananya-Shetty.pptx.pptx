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8"/>
  </p:notesMasterIdLst>
  <p:sldIdLst>
    <p:sldId id="256" r:id="rId6"/>
    <p:sldId id="257" r:id="rId7"/>
  </p:sldIdLst>
  <p:sldSz cx="18288000" cy="10287000"/>
  <p:notesSz cx="6858000" cy="9144000"/>
  <p:embeddedFontLst>
    <p:embeddedFont>
      <p:font typeface="Arimo Italics" charset="1" panose="020B0604020202090204"/>
      <p:regular r:id="rId11"/>
    </p:embeddedFont>
    <p:embeddedFont>
      <p:font typeface="Arimo" charset="1" panose="020B0604020202020204"/>
      <p:regular r:id="rId12"/>
    </p:embeddedFont>
    <p:embeddedFont>
      <p:font typeface="Arimo Bold" charset="1" panose="020B0704020202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notesSlides/notesSlide1.xml" Type="http://schemas.openxmlformats.org/officeDocument/2006/relationships/note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notesMasters/notesMaster1.xml" Type="http://schemas.openxmlformats.org/officeDocument/2006/relationships/notesMaster"/><Relationship Id="rId9" Target="theme/theme2.xml" Type="http://schemas.openxmlformats.org/officeDocument/2006/relationships/them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800AD"/>
        </a:solidFill>
      </p:bgPr>
    </p:bg>
    <p:spTree>
      <p:nvGrpSpPr>
        <p:cNvPr id="1" name=""/>
        <p:cNvGrpSpPr/>
        <p:nvPr/>
      </p:nvGrpSpPr>
      <p:grpSpPr>
        <a:xfrm>
          <a:off x="0" y="0"/>
          <a:ext cx="0" cy="0"/>
          <a:chOff x="0" y="0"/>
          <a:chExt cx="0" cy="0"/>
        </a:xfrm>
      </p:grpSpPr>
      <p:grpSp>
        <p:nvGrpSpPr>
          <p:cNvPr name="Group 2" id="2"/>
          <p:cNvGrpSpPr/>
          <p:nvPr/>
        </p:nvGrpSpPr>
        <p:grpSpPr>
          <a:xfrm rot="0">
            <a:off x="874471" y="894074"/>
            <a:ext cx="3521373" cy="3521373"/>
            <a:chOff x="0" y="0"/>
            <a:chExt cx="7431405" cy="7431405"/>
          </a:xfrm>
        </p:grpSpPr>
        <p:sp>
          <p:nvSpPr>
            <p:cNvPr name="Freeform 3" id="3"/>
            <p:cNvSpPr/>
            <p:nvPr/>
          </p:nvSpPr>
          <p:spPr>
            <a:xfrm flipH="false" flipV="false" rot="0">
              <a:off x="0" y="0"/>
              <a:ext cx="7431405" cy="7431405"/>
            </a:xfrm>
            <a:custGeom>
              <a:avLst/>
              <a:gdLst/>
              <a:ahLst/>
              <a:cxnLst/>
              <a:rect r="r" b="b" t="t" l="l"/>
              <a:pathLst>
                <a:path h="7431405" w="7431405">
                  <a:moveTo>
                    <a:pt x="0" y="0"/>
                  </a:moveTo>
                  <a:lnTo>
                    <a:pt x="7431405" y="0"/>
                  </a:lnTo>
                  <a:lnTo>
                    <a:pt x="7431405" y="7431405"/>
                  </a:lnTo>
                  <a:lnTo>
                    <a:pt x="0" y="7431405"/>
                  </a:lnTo>
                  <a:close/>
                </a:path>
              </a:pathLst>
            </a:custGeom>
            <a:blipFill>
              <a:blip r:embed="rId3"/>
              <a:stretch>
                <a:fillRect l="0" t="0" r="0" b="0"/>
              </a:stretch>
            </a:blipFill>
            <a:ln w="57150" cap="sq">
              <a:solidFill>
                <a:srgbClr val="595959"/>
              </a:solidFill>
              <a:prstDash val="solid"/>
              <a:miter/>
            </a:ln>
          </p:spPr>
        </p:sp>
      </p:grpSp>
      <p:grpSp>
        <p:nvGrpSpPr>
          <p:cNvPr name="Group 4" id="4"/>
          <p:cNvGrpSpPr/>
          <p:nvPr/>
        </p:nvGrpSpPr>
        <p:grpSpPr>
          <a:xfrm rot="0">
            <a:off x="7115683" y="144075"/>
            <a:ext cx="10071602" cy="1499997"/>
            <a:chOff x="0" y="0"/>
            <a:chExt cx="13428802" cy="1999996"/>
          </a:xfrm>
        </p:grpSpPr>
        <p:sp>
          <p:nvSpPr>
            <p:cNvPr name="Freeform 5" id="5"/>
            <p:cNvSpPr/>
            <p:nvPr/>
          </p:nvSpPr>
          <p:spPr>
            <a:xfrm flipH="false" flipV="false" rot="0">
              <a:off x="0" y="0"/>
              <a:ext cx="13428800" cy="2000000"/>
            </a:xfrm>
            <a:custGeom>
              <a:avLst/>
              <a:gdLst/>
              <a:ahLst/>
              <a:cxnLst/>
              <a:rect r="r" b="b" t="t" l="l"/>
              <a:pathLst>
                <a:path h="2000000" w="13428800">
                  <a:moveTo>
                    <a:pt x="0" y="0"/>
                  </a:moveTo>
                  <a:lnTo>
                    <a:pt x="13428800" y="0"/>
                  </a:lnTo>
                  <a:lnTo>
                    <a:pt x="13428800" y="2000000"/>
                  </a:lnTo>
                  <a:lnTo>
                    <a:pt x="0" y="2000000"/>
                  </a:lnTo>
                  <a:close/>
                </a:path>
              </a:pathLst>
            </a:custGeom>
            <a:blipFill>
              <a:blip r:embed="rId4">
                <a:alphaModFix amt="0"/>
              </a:blip>
              <a:stretch>
                <a:fillRect l="0" t="-80830" r="0" b="-80830"/>
              </a:stretch>
            </a:blipFill>
          </p:spPr>
        </p:sp>
        <p:sp>
          <p:nvSpPr>
            <p:cNvPr name="TextBox 6" id="6"/>
            <p:cNvSpPr txBox="true"/>
            <p:nvPr/>
          </p:nvSpPr>
          <p:spPr>
            <a:xfrm>
              <a:off x="0" y="-28575"/>
              <a:ext cx="13428802" cy="2028571"/>
            </a:xfrm>
            <a:prstGeom prst="rect">
              <a:avLst/>
            </a:prstGeom>
          </p:spPr>
          <p:txBody>
            <a:bodyPr anchor="ctr" rtlCol="false" tIns="0" lIns="0" bIns="0" rIns="0"/>
            <a:lstStyle/>
            <a:p>
              <a:pPr algn="ctr">
                <a:lnSpc>
                  <a:spcPts val="4320"/>
                </a:lnSpc>
              </a:pPr>
              <a:r>
                <a:rPr lang="en-US" sz="3600" i="true">
                  <a:solidFill>
                    <a:srgbClr val="EEEEEE"/>
                  </a:solidFill>
                  <a:latin typeface="Arimo Italics"/>
                  <a:ea typeface="Arimo Italics"/>
                  <a:cs typeface="Arimo Italics"/>
                  <a:sym typeface="Arimo Italics"/>
                </a:rPr>
                <a:t>“I just want to find the right scheme information quickly, without digging through the whole app.”</a:t>
              </a:r>
            </a:p>
          </p:txBody>
        </p:sp>
      </p:grpSp>
      <p:grpSp>
        <p:nvGrpSpPr>
          <p:cNvPr name="Group 7" id="7"/>
          <p:cNvGrpSpPr/>
          <p:nvPr/>
        </p:nvGrpSpPr>
        <p:grpSpPr>
          <a:xfrm rot="0">
            <a:off x="6526178" y="6019227"/>
            <a:ext cx="11521709" cy="3756246"/>
            <a:chOff x="0" y="0"/>
            <a:chExt cx="12356854" cy="4028516"/>
          </a:xfrm>
        </p:grpSpPr>
        <p:sp>
          <p:nvSpPr>
            <p:cNvPr name="Freeform 8" id="8"/>
            <p:cNvSpPr/>
            <p:nvPr/>
          </p:nvSpPr>
          <p:spPr>
            <a:xfrm flipH="false" flipV="false" rot="0">
              <a:off x="0" y="0"/>
              <a:ext cx="12356833" cy="4028516"/>
            </a:xfrm>
            <a:custGeom>
              <a:avLst/>
              <a:gdLst/>
              <a:ahLst/>
              <a:cxnLst/>
              <a:rect r="r" b="b" t="t" l="l"/>
              <a:pathLst>
                <a:path h="4028516" w="12356833">
                  <a:moveTo>
                    <a:pt x="0" y="0"/>
                  </a:moveTo>
                  <a:lnTo>
                    <a:pt x="12356833" y="0"/>
                  </a:lnTo>
                  <a:lnTo>
                    <a:pt x="12356833" y="4028516"/>
                  </a:lnTo>
                  <a:lnTo>
                    <a:pt x="0" y="4028516"/>
                  </a:lnTo>
                  <a:close/>
                </a:path>
              </a:pathLst>
            </a:custGeom>
            <a:blipFill>
              <a:blip r:embed="rId4">
                <a:alphaModFix amt="0"/>
              </a:blip>
              <a:stretch>
                <a:fillRect l="0" t="-28402" r="-12787" b="-6417"/>
              </a:stretch>
            </a:blipFill>
            <a:ln w="57150" cap="sq">
              <a:solidFill>
                <a:srgbClr val="B4B4B4"/>
              </a:solidFill>
              <a:prstDash val="solid"/>
              <a:miter/>
            </a:ln>
          </p:spPr>
        </p:sp>
        <p:sp>
          <p:nvSpPr>
            <p:cNvPr name="TextBox 9" id="9"/>
            <p:cNvSpPr txBox="true"/>
            <p:nvPr/>
          </p:nvSpPr>
          <p:spPr>
            <a:xfrm>
              <a:off x="0" y="-19050"/>
              <a:ext cx="12356854" cy="4047566"/>
            </a:xfrm>
            <a:prstGeom prst="rect">
              <a:avLst/>
            </a:prstGeom>
          </p:spPr>
          <p:txBody>
            <a:bodyPr anchor="t" rtlCol="false" tIns="50800" lIns="50800" bIns="50800" rIns="50800"/>
            <a:lstStyle/>
            <a:p>
              <a:pPr algn="l">
                <a:lnSpc>
                  <a:spcPts val="3120"/>
                </a:lnSpc>
              </a:pPr>
              <a:r>
                <a:rPr lang="en-US" sz="2600">
                  <a:solidFill>
                    <a:srgbClr val="EEEEEE"/>
                  </a:solidFill>
                  <a:latin typeface="Arimo"/>
                  <a:ea typeface="Arimo"/>
                  <a:cs typeface="Arimo"/>
                  <a:sym typeface="Arimo"/>
                </a:rPr>
                <a:t>Meena </a:t>
              </a:r>
              <a:r>
                <a:rPr lang="en-US" sz="2600">
                  <a:solidFill>
                    <a:srgbClr val="EEEEEE"/>
                  </a:solidFill>
                  <a:latin typeface="Arimo"/>
                  <a:ea typeface="Arimo"/>
                  <a:cs typeface="Arimo"/>
                  <a:sym typeface="Arimo"/>
                </a:rPr>
                <a:t>first heard about the new government program while exploring different podcast websites. Intrigued, she opened the MyGov Podcast app in her room to find more details, but the experience was frustrating. The episode titles were completely unsorted, there was no option to filter by topic, and when she had to step away midway through, the app didn't save her progress, making her lose the place entirely. All she want is a simple, reliable way to quickly find credible government information without all the hassle.</a:t>
              </a:r>
            </a:p>
          </p:txBody>
        </p:sp>
      </p:grpSp>
      <p:sp>
        <p:nvSpPr>
          <p:cNvPr name="Freeform 10" id="10"/>
          <p:cNvSpPr/>
          <p:nvPr/>
        </p:nvSpPr>
        <p:spPr>
          <a:xfrm flipH="false" flipV="false" rot="0">
            <a:off x="178241" y="5400545"/>
            <a:ext cx="6158565" cy="4669292"/>
          </a:xfrm>
          <a:custGeom>
            <a:avLst/>
            <a:gdLst/>
            <a:ahLst/>
            <a:cxnLst/>
            <a:rect r="r" b="b" t="t" l="l"/>
            <a:pathLst>
              <a:path h="4669292" w="6158565">
                <a:moveTo>
                  <a:pt x="0" y="0"/>
                </a:moveTo>
                <a:lnTo>
                  <a:pt x="6158565" y="0"/>
                </a:lnTo>
                <a:lnTo>
                  <a:pt x="6158565" y="4669292"/>
                </a:lnTo>
                <a:lnTo>
                  <a:pt x="0" y="4669292"/>
                </a:lnTo>
                <a:lnTo>
                  <a:pt x="0" y="0"/>
                </a:lnTo>
                <a:close/>
              </a:path>
            </a:pathLst>
          </a:custGeom>
          <a:blipFill>
            <a:blip r:embed="rId5"/>
            <a:stretch>
              <a:fillRect l="-2515" t="-38529" r="-2515" b="0"/>
            </a:stretch>
          </a:blipFill>
        </p:spPr>
      </p:sp>
      <p:sp>
        <p:nvSpPr>
          <p:cNvPr name="TextBox 11" id="11"/>
          <p:cNvSpPr txBox="true"/>
          <p:nvPr/>
        </p:nvSpPr>
        <p:spPr>
          <a:xfrm rot="0">
            <a:off x="-309673" y="4552950"/>
            <a:ext cx="5333552" cy="590550"/>
          </a:xfrm>
          <a:prstGeom prst="rect">
            <a:avLst/>
          </a:prstGeom>
        </p:spPr>
        <p:txBody>
          <a:bodyPr anchor="t" rtlCol="false" tIns="0" lIns="0" bIns="0" rIns="0">
            <a:spAutoFit/>
          </a:bodyPr>
          <a:lstStyle/>
          <a:p>
            <a:pPr algn="ctr">
              <a:lnSpc>
                <a:spcPts val="4560"/>
              </a:lnSpc>
            </a:pPr>
            <a:r>
              <a:rPr lang="en-US" b="true" sz="3800">
                <a:solidFill>
                  <a:srgbClr val="FFFFFF"/>
                </a:solidFill>
                <a:latin typeface="Arimo Bold"/>
                <a:ea typeface="Arimo Bold"/>
                <a:cs typeface="Arimo Bold"/>
                <a:sym typeface="Arimo Bold"/>
              </a:rPr>
              <a:t>Meena Sharma </a:t>
            </a:r>
          </a:p>
        </p:txBody>
      </p:sp>
      <p:sp>
        <p:nvSpPr>
          <p:cNvPr name="TextBox 12" id="12"/>
          <p:cNvSpPr txBox="true"/>
          <p:nvPr/>
        </p:nvSpPr>
        <p:spPr>
          <a:xfrm rot="0">
            <a:off x="247810" y="5501697"/>
            <a:ext cx="6019428" cy="4972050"/>
          </a:xfrm>
          <a:prstGeom prst="rect">
            <a:avLst/>
          </a:prstGeom>
        </p:spPr>
        <p:txBody>
          <a:bodyPr anchor="t" rtlCol="false" tIns="0" lIns="0" bIns="0" rIns="0">
            <a:spAutoFit/>
          </a:bodyPr>
          <a:lstStyle/>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Age: 23</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Education: MBA (2nd year)</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Hometown: Mumbai, Maharashtra</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Family: Lives in a flat with roommates</a:t>
            </a:r>
          </a:p>
          <a:p>
            <a:pPr algn="l">
              <a:lnSpc>
                <a:spcPts val="3281"/>
              </a:lnSpc>
            </a:pPr>
          </a:p>
          <a:p>
            <a:pPr algn="l">
              <a:lnSpc>
                <a:spcPts val="3281"/>
              </a:lnSpc>
            </a:pPr>
            <a:r>
              <a:rPr lang="en-US" b="true" sz="2734">
                <a:gradFill>
                  <a:gsLst>
                    <a:gs pos="0">
                      <a:srgbClr val="000000">
                        <a:alpha val="100000"/>
                      </a:srgbClr>
                    </a:gs>
                    <a:gs pos="100000">
                      <a:srgbClr val="3533CD">
                        <a:alpha val="100000"/>
                      </a:srgbClr>
                    </a:gs>
                  </a:gsLst>
                  <a:lin ang="0"/>
                </a:gradFill>
                <a:latin typeface="Arimo Bold"/>
                <a:ea typeface="Arimo Bold"/>
                <a:cs typeface="Arimo Bold"/>
                <a:sym typeface="Arimo Bold"/>
              </a:rPr>
              <a:t>Occupation: Student/Part-time Employee</a:t>
            </a:r>
          </a:p>
          <a:p>
            <a:pPr algn="l">
              <a:lnSpc>
                <a:spcPts val="3552"/>
              </a:lnSpc>
            </a:pPr>
          </a:p>
        </p:txBody>
      </p:sp>
      <p:sp>
        <p:nvSpPr>
          <p:cNvPr name="TextBox 13" id="13"/>
          <p:cNvSpPr txBox="true"/>
          <p:nvPr/>
        </p:nvSpPr>
        <p:spPr>
          <a:xfrm rot="0">
            <a:off x="7288934" y="1676400"/>
            <a:ext cx="4862551" cy="3467100"/>
          </a:xfrm>
          <a:prstGeom prst="rect">
            <a:avLst/>
          </a:prstGeom>
        </p:spPr>
        <p:txBody>
          <a:bodyPr anchor="t" rtlCol="false" tIns="0" lIns="0" bIns="0" rIns="0">
            <a:spAutoFit/>
          </a:bodyPr>
          <a:lstStyle/>
          <a:p>
            <a:pPr algn="l">
              <a:lnSpc>
                <a:spcPts val="4079"/>
              </a:lnSpc>
            </a:pPr>
            <a:r>
              <a:rPr lang="en-US" b="true" sz="3400">
                <a:solidFill>
                  <a:srgbClr val="10BB82"/>
                </a:solidFill>
                <a:latin typeface="Arimo Bold"/>
                <a:ea typeface="Arimo Bold"/>
                <a:cs typeface="Arimo Bold"/>
                <a:sym typeface="Arimo Bold"/>
              </a:rPr>
              <a:t>Goals</a:t>
            </a:r>
            <a:r>
              <a:rPr lang="en-US" sz="3400">
                <a:solidFill>
                  <a:srgbClr val="EEEEEE"/>
                </a:solidFill>
                <a:latin typeface="Arimo"/>
                <a:ea typeface="Arimo"/>
                <a:cs typeface="Arimo"/>
                <a:sym typeface="Arimo"/>
              </a:rPr>
              <a:t> </a:t>
            </a:r>
          </a:p>
          <a:p>
            <a:pPr algn="l" marL="858520" indent="-429260" lvl="1">
              <a:lnSpc>
                <a:spcPts val="2879"/>
              </a:lnSpc>
              <a:buFont typeface="Arial"/>
              <a:buChar char="•"/>
            </a:pPr>
            <a:r>
              <a:rPr lang="en-US" sz="2400">
                <a:solidFill>
                  <a:srgbClr val="EEEEEE"/>
                </a:solidFill>
                <a:latin typeface="Arimo"/>
                <a:ea typeface="Arimo"/>
                <a:cs typeface="Arimo"/>
                <a:sym typeface="Arimo"/>
              </a:rPr>
              <a:t>Stay updated on relevant schemes</a:t>
            </a:r>
          </a:p>
          <a:p>
            <a:pPr algn="l" marL="858520" indent="-429260" lvl="1">
              <a:lnSpc>
                <a:spcPts val="2879"/>
              </a:lnSpc>
              <a:buFont typeface="Arial"/>
              <a:buChar char="•"/>
            </a:pPr>
            <a:r>
              <a:rPr lang="en-US" sz="2400">
                <a:solidFill>
                  <a:srgbClr val="EEEEEE"/>
                </a:solidFill>
                <a:latin typeface="Arimo"/>
                <a:ea typeface="Arimo"/>
                <a:cs typeface="Arimo"/>
                <a:sym typeface="Arimo"/>
              </a:rPr>
              <a:t>Find episodes by topic quickly</a:t>
            </a:r>
          </a:p>
          <a:p>
            <a:pPr algn="l" marL="858520" indent="-429260" lvl="1">
              <a:lnSpc>
                <a:spcPts val="2879"/>
              </a:lnSpc>
              <a:buFont typeface="Arial"/>
              <a:buChar char="•"/>
            </a:pPr>
            <a:r>
              <a:rPr lang="en-US" sz="2400">
                <a:solidFill>
                  <a:srgbClr val="EEEEEE"/>
                </a:solidFill>
                <a:latin typeface="Arimo"/>
                <a:ea typeface="Arimo"/>
                <a:cs typeface="Arimo"/>
                <a:sym typeface="Arimo"/>
              </a:rPr>
              <a:t>Listen between classes at the hostel</a:t>
            </a:r>
          </a:p>
          <a:p>
            <a:pPr algn="l" marL="858520" indent="-429260" lvl="1">
              <a:lnSpc>
                <a:spcPts val="2879"/>
              </a:lnSpc>
              <a:buFont typeface="Arial"/>
              <a:buChar char="•"/>
            </a:pPr>
            <a:r>
              <a:rPr lang="en-US" sz="2400">
                <a:solidFill>
                  <a:srgbClr val="EEEEEE"/>
                </a:solidFill>
                <a:latin typeface="Arimo"/>
                <a:ea typeface="Arimo"/>
                <a:cs typeface="Arimo"/>
                <a:sym typeface="Arimo"/>
              </a:rPr>
              <a:t>Share useful episodes with friends</a:t>
            </a:r>
          </a:p>
        </p:txBody>
      </p:sp>
      <p:sp>
        <p:nvSpPr>
          <p:cNvPr name="TextBox 14" id="14"/>
          <p:cNvSpPr txBox="true"/>
          <p:nvPr/>
        </p:nvSpPr>
        <p:spPr>
          <a:xfrm rot="0">
            <a:off x="12522910" y="1625022"/>
            <a:ext cx="5388741" cy="3895725"/>
          </a:xfrm>
          <a:prstGeom prst="rect">
            <a:avLst/>
          </a:prstGeom>
        </p:spPr>
        <p:txBody>
          <a:bodyPr anchor="t" rtlCol="false" tIns="0" lIns="0" bIns="0" rIns="0">
            <a:spAutoFit/>
          </a:bodyPr>
          <a:lstStyle/>
          <a:p>
            <a:pPr algn="l">
              <a:lnSpc>
                <a:spcPts val="4079"/>
              </a:lnSpc>
            </a:pPr>
            <a:r>
              <a:rPr lang="en-US" b="true" sz="3400">
                <a:solidFill>
                  <a:srgbClr val="FF2828"/>
                </a:solidFill>
                <a:latin typeface="Arimo Bold"/>
                <a:ea typeface="Arimo Bold"/>
                <a:cs typeface="Arimo Bold"/>
                <a:sym typeface="Arimo Bold"/>
              </a:rPr>
              <a:t>Frustrations</a:t>
            </a:r>
            <a:r>
              <a:rPr lang="en-US" b="true" sz="3400">
                <a:solidFill>
                  <a:srgbClr val="EEEEEE"/>
                </a:solidFill>
                <a:latin typeface="Arimo Bold"/>
                <a:ea typeface="Arimo Bold"/>
                <a:cs typeface="Arimo Bold"/>
                <a:sym typeface="Arimo Bold"/>
              </a:rPr>
              <a:t> </a:t>
            </a:r>
          </a:p>
          <a:p>
            <a:pPr algn="l" marL="858520" indent="-429260" lvl="1">
              <a:lnSpc>
                <a:spcPts val="2879"/>
              </a:lnSpc>
              <a:buFont typeface="Arial"/>
              <a:buChar char="•"/>
            </a:pPr>
            <a:r>
              <a:rPr lang="en-US" sz="2400">
                <a:solidFill>
                  <a:srgbClr val="EEEEEE"/>
                </a:solidFill>
                <a:latin typeface="Arimo"/>
                <a:ea typeface="Arimo"/>
                <a:cs typeface="Arimo"/>
                <a:sym typeface="Arimo"/>
              </a:rPr>
              <a:t>Hard to filter by topic or language</a:t>
            </a:r>
          </a:p>
          <a:p>
            <a:pPr algn="l" marL="858520" indent="-429260" lvl="1">
              <a:lnSpc>
                <a:spcPts val="2879"/>
              </a:lnSpc>
              <a:buFont typeface="Arial"/>
              <a:buChar char="•"/>
            </a:pPr>
            <a:r>
              <a:rPr lang="en-US" sz="2400">
                <a:solidFill>
                  <a:srgbClr val="EEEEEE"/>
                </a:solidFill>
                <a:latin typeface="Arimo"/>
                <a:ea typeface="Arimo"/>
                <a:cs typeface="Arimo"/>
                <a:sym typeface="Arimo"/>
              </a:rPr>
              <a:t>Can't resume an interrupted episode</a:t>
            </a:r>
          </a:p>
          <a:p>
            <a:pPr algn="l" marL="858520" indent="-429260" lvl="1">
              <a:lnSpc>
                <a:spcPts val="2879"/>
              </a:lnSpc>
              <a:buFont typeface="Arial"/>
              <a:buChar char="•"/>
            </a:pPr>
            <a:r>
              <a:rPr lang="en-US" sz="2400">
                <a:solidFill>
                  <a:srgbClr val="EEEEEE"/>
                </a:solidFill>
                <a:latin typeface="Arimo"/>
                <a:ea typeface="Arimo"/>
                <a:cs typeface="Arimo"/>
                <a:sym typeface="Arimo"/>
              </a:rPr>
              <a:t>Jargon makes episodes hard to follow</a:t>
            </a:r>
          </a:p>
          <a:p>
            <a:pPr algn="l" marL="858317" indent="-429158" lvl="1">
              <a:lnSpc>
                <a:spcPts val="2879"/>
              </a:lnSpc>
              <a:buFont typeface="Arial"/>
              <a:buChar char="•"/>
            </a:pPr>
            <a:r>
              <a:rPr lang="en-US" sz="2400">
                <a:solidFill>
                  <a:srgbClr val="EEEEEE"/>
                </a:solidFill>
                <a:latin typeface="Arimo"/>
                <a:ea typeface="Arimo"/>
                <a:cs typeface="Arimo"/>
                <a:sym typeface="Arimo"/>
              </a:rPr>
              <a:t>No personalised recommendations</a:t>
            </a:r>
          </a:p>
          <a:p>
            <a:pPr algn="l" marL="858520" indent="-429260" lvl="1">
              <a:lnSpc>
                <a:spcPts val="2879"/>
              </a:lnSpc>
              <a:buFont typeface="Arial"/>
              <a:buChar char="•"/>
            </a:pPr>
            <a:r>
              <a:rPr lang="en-US" sz="2400">
                <a:solidFill>
                  <a:srgbClr val="EEEEEE"/>
                </a:solidFill>
                <a:latin typeface="Arimo"/>
                <a:ea typeface="Arimo"/>
                <a:cs typeface="Arimo"/>
                <a:sym typeface="Arimo"/>
              </a:rPr>
              <a:t>Recently added podcasts not included</a:t>
            </a:r>
          </a:p>
          <a:p>
            <a:pPr algn="l" marL="1001607" indent="-500803" lvl="1">
              <a:lnSpc>
                <a:spcPts val="3359"/>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800AD"/>
        </a:solidFill>
      </p:bgPr>
    </p:bg>
    <p:spTree>
      <p:nvGrpSpPr>
        <p:cNvPr id="1" name=""/>
        <p:cNvGrpSpPr/>
        <p:nvPr/>
      </p:nvGrpSpPr>
      <p:grpSpPr>
        <a:xfrm>
          <a:off x="0" y="0"/>
          <a:ext cx="0" cy="0"/>
          <a:chOff x="0" y="0"/>
          <a:chExt cx="0" cy="0"/>
        </a:xfrm>
      </p:grpSpPr>
      <p:sp>
        <p:nvSpPr>
          <p:cNvPr name="TextBox 2" id="2"/>
          <p:cNvSpPr txBox="true"/>
          <p:nvPr/>
        </p:nvSpPr>
        <p:spPr>
          <a:xfrm rot="0">
            <a:off x="434750" y="65530"/>
            <a:ext cx="6217148" cy="405727"/>
          </a:xfrm>
          <a:prstGeom prst="rect">
            <a:avLst/>
          </a:prstGeom>
        </p:spPr>
        <p:txBody>
          <a:bodyPr anchor="t" rtlCol="false" tIns="0" lIns="0" bIns="0" rIns="0">
            <a:spAutoFit/>
          </a:bodyPr>
          <a:lstStyle/>
          <a:p>
            <a:pPr algn="l">
              <a:lnSpc>
                <a:spcPts val="3840"/>
              </a:lnSpc>
            </a:pPr>
            <a:r>
              <a:rPr lang="en-US" b="true" sz="3200">
                <a:solidFill>
                  <a:srgbClr val="38B6FF"/>
                </a:solidFill>
                <a:latin typeface="Arimo Bold"/>
                <a:ea typeface="Arimo Bold"/>
                <a:cs typeface="Arimo Bold"/>
                <a:sym typeface="Arimo Bold"/>
              </a:rPr>
              <a:t>Persona: Ananya Shetty</a:t>
            </a:r>
          </a:p>
        </p:txBody>
      </p:sp>
      <p:sp>
        <p:nvSpPr>
          <p:cNvPr name="TextBox 3" id="3"/>
          <p:cNvSpPr txBox="true"/>
          <p:nvPr/>
        </p:nvSpPr>
        <p:spPr>
          <a:xfrm rot="0">
            <a:off x="147125" y="551754"/>
            <a:ext cx="16792346" cy="377400"/>
          </a:xfrm>
          <a:prstGeom prst="rect">
            <a:avLst/>
          </a:prstGeom>
        </p:spPr>
        <p:txBody>
          <a:bodyPr anchor="t" rtlCol="false" tIns="0" lIns="0" bIns="0" rIns="0">
            <a:spAutoFit/>
          </a:bodyPr>
          <a:lstStyle/>
          <a:p>
            <a:pPr algn="l">
              <a:lnSpc>
                <a:spcPts val="2640"/>
              </a:lnSpc>
            </a:pPr>
            <a:r>
              <a:rPr lang="en-US" sz="2200">
                <a:solidFill>
                  <a:srgbClr val="C1FF72"/>
                </a:solidFill>
                <a:latin typeface="Arimo"/>
                <a:ea typeface="Arimo"/>
                <a:cs typeface="Arimo"/>
                <a:sym typeface="Arimo"/>
              </a:rPr>
              <a:t>Goal: Find and understand a government scheme podcast episode quickly, in her own language, with minimal effort</a:t>
            </a:r>
          </a:p>
        </p:txBody>
      </p:sp>
      <p:graphicFrame>
        <p:nvGraphicFramePr>
          <p:cNvPr name="Table 4" id="4"/>
          <p:cNvGraphicFramePr>
            <a:graphicFrameLocks noGrp="true"/>
          </p:cNvGraphicFramePr>
          <p:nvPr/>
        </p:nvGraphicFramePr>
        <p:xfrm>
          <a:off x="147125" y="1028700"/>
          <a:ext cx="18033214" cy="9192177"/>
        </p:xfrm>
        <a:graphic>
          <a:graphicData uri="http://schemas.openxmlformats.org/drawingml/2006/table">
            <a:tbl>
              <a:tblPr/>
              <a:tblGrid>
                <a:gridCol w="2704419"/>
                <a:gridCol w="3289765"/>
                <a:gridCol w="2857359"/>
                <a:gridCol w="2818768"/>
                <a:gridCol w="2895949"/>
                <a:gridCol w="3466955"/>
              </a:tblGrid>
              <a:tr h="1052886">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ACTION</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F3F3F3"/>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Discover</a:t>
                      </a:r>
                      <a:endParaRPr lang="en-US" sz="1100"/>
                    </a:p>
                  </a:txBody>
                  <a:tcPr marL="91902" marR="91902" marT="91902" marB="91902" anchor="ctr">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Search &amp; Browse</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Select &amp; Play</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Listen &amp; Understand</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c>
                  <a:txBody>
                    <a:bodyPr anchor="t" rtlCol="false"/>
                    <a:lstStyle/>
                    <a:p>
                      <a:pPr algn="ctr">
                        <a:lnSpc>
                          <a:spcPts val="3036"/>
                        </a:lnSpc>
                        <a:defRPr/>
                      </a:pPr>
                      <a:r>
                        <a:rPr lang="en-US" b="true" sz="2200">
                          <a:solidFill>
                            <a:srgbClr val="000000"/>
                          </a:solidFill>
                          <a:latin typeface="Arimo Bold"/>
                          <a:ea typeface="Arimo Bold"/>
                          <a:cs typeface="Arimo Bold"/>
                          <a:sym typeface="Arimo Bold"/>
                        </a:rPr>
                        <a:t>Save &amp; Share</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D2E3FC"/>
                    </a:solidFill>
                  </a:tcPr>
                </a:tc>
              </a:tr>
              <a:tr h="4099998">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TASK LIST</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Opens the MyGov Podcast app/website</a:t>
                      </a:r>
                    </a:p>
                    <a:p>
                      <a:pPr algn="l">
                        <a:lnSpc>
                          <a:spcPts val="2640"/>
                        </a:lnSpc>
                      </a:pPr>
                      <a:r>
                        <a:rPr lang="en-US" sz="2200">
                          <a:solidFill>
                            <a:srgbClr val="000000"/>
                          </a:solidFill>
                          <a:latin typeface="Arimo"/>
                          <a:ea typeface="Arimo"/>
                          <a:cs typeface="Arimo"/>
                          <a:sym typeface="Arimo"/>
                        </a:rPr>
                        <a:t>B. Scans homepage for trending or featured podcasts</a:t>
                      </a:r>
                    </a:p>
                    <a:p>
                      <a:pPr algn="l">
                        <a:lnSpc>
                          <a:spcPts val="2640"/>
                        </a:lnSpc>
                      </a:pPr>
                      <a:r>
                        <a:rPr lang="en-US" sz="2200">
                          <a:solidFill>
                            <a:srgbClr val="000000"/>
                          </a:solidFill>
                          <a:latin typeface="Arimo"/>
                          <a:ea typeface="Arimo"/>
                          <a:cs typeface="Arimo"/>
                          <a:sym typeface="Arimo"/>
                        </a:rPr>
                        <a:t>C. Notices unclear categories competing with government branding</a:t>
                      </a:r>
                    </a:p>
                  </a:txBody>
                  <a:tcPr marL="91902" marR="91902" marT="91902" marB="91902" anchor="t">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Types a keyword related to the scheme</a:t>
                      </a:r>
                    </a:p>
                    <a:p>
                      <a:pPr algn="l">
                        <a:lnSpc>
                          <a:spcPts val="2640"/>
                        </a:lnSpc>
                      </a:pPr>
                      <a:r>
                        <a:rPr lang="en-US" sz="2200">
                          <a:solidFill>
                            <a:srgbClr val="000000"/>
                          </a:solidFill>
                          <a:latin typeface="Arimo"/>
                          <a:ea typeface="Arimo"/>
                          <a:cs typeface="Arimo"/>
                          <a:sym typeface="Arimo"/>
                        </a:rPr>
                        <a:t>B. Looks for filters by department, topic, or language</a:t>
                      </a:r>
                    </a:p>
                    <a:p>
                      <a:pPr algn="l">
                        <a:lnSpc>
                          <a:spcPts val="2640"/>
                        </a:lnSpc>
                      </a:pPr>
                      <a:r>
                        <a:rPr lang="en-US" sz="2200">
                          <a:solidFill>
                            <a:srgbClr val="000000"/>
                          </a:solidFill>
                          <a:latin typeface="Arimo"/>
                          <a:ea typeface="Arimo"/>
                          <a:cs typeface="Arimo"/>
                          <a:sym typeface="Arimo"/>
                        </a:rPr>
                        <a:t>C. Scrolls through inconsistent podcast cards to find a match</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Taps an episode to open it</a:t>
                      </a:r>
                    </a:p>
                    <a:p>
                      <a:pPr algn="l">
                        <a:lnSpc>
                          <a:spcPts val="2640"/>
                        </a:lnSpc>
                      </a:pPr>
                      <a:r>
                        <a:rPr lang="en-US" sz="2200">
                          <a:solidFill>
                            <a:srgbClr val="000000"/>
                          </a:solidFill>
                          <a:latin typeface="Arimo"/>
                          <a:ea typeface="Arimo"/>
                          <a:cs typeface="Arimo"/>
                          <a:sym typeface="Arimo"/>
                        </a:rPr>
                        <a:t>B. Waits for the audio to buffer</a:t>
                      </a:r>
                    </a:p>
                    <a:p>
                      <a:pPr algn="l">
                        <a:lnSpc>
                          <a:spcPts val="2640"/>
                        </a:lnSpc>
                      </a:pPr>
                      <a:r>
                        <a:rPr lang="en-US" sz="2200">
                          <a:solidFill>
                            <a:srgbClr val="000000"/>
                          </a:solidFill>
                          <a:latin typeface="Arimo"/>
                          <a:ea typeface="Arimo"/>
                          <a:cs typeface="Arimo"/>
                          <a:sym typeface="Arimo"/>
                        </a:rPr>
                        <a:t>C. Starts playback with basic play/pause controls</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Listens while commuting or multitasking</a:t>
                      </a:r>
                    </a:p>
                    <a:p>
                      <a:pPr algn="l">
                        <a:lnSpc>
                          <a:spcPts val="2640"/>
                        </a:lnSpc>
                      </a:pPr>
                      <a:r>
                        <a:rPr lang="en-US" sz="2200">
                          <a:solidFill>
                            <a:srgbClr val="000000"/>
                          </a:solidFill>
                          <a:latin typeface="Arimo"/>
                          <a:ea typeface="Arimo"/>
                          <a:cs typeface="Arimo"/>
                          <a:sym typeface="Arimo"/>
                        </a:rPr>
                        <a:t>B. Tries to follow formal government terminology</a:t>
                      </a:r>
                    </a:p>
                    <a:p>
                      <a:pPr algn="l">
                        <a:lnSpc>
                          <a:spcPts val="2640"/>
                        </a:lnSpc>
                      </a:pPr>
                      <a:r>
                        <a:rPr lang="en-US" sz="2200">
                          <a:solidFill>
                            <a:srgbClr val="000000"/>
                          </a:solidFill>
                          <a:latin typeface="Arimo"/>
                          <a:ea typeface="Arimo"/>
                          <a:cs typeface="Arimo"/>
                          <a:sym typeface="Arimo"/>
                        </a:rPr>
                        <a:t>C. Loses track of playback position when interrupted</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39"/>
                        </a:lnSpc>
                        <a:defRPr/>
                      </a:pPr>
                      <a:r>
                        <a:rPr lang="en-US" b="true" sz="2199">
                          <a:solidFill>
                            <a:srgbClr val="000000"/>
                          </a:solidFill>
                          <a:latin typeface="Arimo Bold"/>
                          <a:ea typeface="Arimo Bold"/>
                          <a:cs typeface="Arimo Bold"/>
                          <a:sym typeface="Arimo Bold"/>
                        </a:rPr>
                        <a:t>Tasks</a:t>
                      </a:r>
                      <a:endParaRPr lang="en-US" sz="1100"/>
                    </a:p>
                    <a:p>
                      <a:pPr algn="l">
                        <a:lnSpc>
                          <a:spcPts val="2640"/>
                        </a:lnSpc>
                      </a:pPr>
                      <a:r>
                        <a:rPr lang="en-US" sz="2200">
                          <a:solidFill>
                            <a:srgbClr val="000000"/>
                          </a:solidFill>
                          <a:latin typeface="Arimo"/>
                          <a:ea typeface="Arimo"/>
                          <a:cs typeface="Arimo"/>
                          <a:sym typeface="Arimo"/>
                        </a:rPr>
                        <a:t>A. Wants to save the episode for later</a:t>
                      </a:r>
                    </a:p>
                    <a:p>
                      <a:pPr algn="l">
                        <a:lnSpc>
                          <a:spcPts val="2640"/>
                        </a:lnSpc>
                      </a:pPr>
                      <a:r>
                        <a:rPr lang="en-US" sz="2200">
                          <a:solidFill>
                            <a:srgbClr val="000000"/>
                          </a:solidFill>
                          <a:latin typeface="Arimo"/>
                          <a:ea typeface="Arimo"/>
                          <a:cs typeface="Arimo"/>
                          <a:sym typeface="Arimo"/>
                        </a:rPr>
                        <a:t>B. Tries to share it with friends and family</a:t>
                      </a:r>
                    </a:p>
                    <a:p>
                      <a:pPr algn="l">
                        <a:lnSpc>
                          <a:spcPts val="2640"/>
                        </a:lnSpc>
                      </a:pPr>
                      <a:r>
                        <a:rPr lang="en-US" sz="2200">
                          <a:solidFill>
                            <a:srgbClr val="000000"/>
                          </a:solidFill>
                          <a:latin typeface="Arimo"/>
                          <a:ea typeface="Arimo"/>
                          <a:cs typeface="Arimo"/>
                          <a:sym typeface="Arimo"/>
                        </a:rPr>
                        <a:t>C. Looks for related episodes on the same topic</a:t>
                      </a:r>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r>
              <a:tr h="2261944">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FEELING ADJECTIVE</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2857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Curious, but slightly overwhelmed</a:t>
                      </a:r>
                      <a:endParaRPr lang="en-US" sz="1100"/>
                    </a:p>
                  </a:txBody>
                  <a:tcPr marL="91902" marR="91902" marT="91902" marB="91902" anchor="t">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Frustrated by limited sorting and filters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Mildly anxious from unclear loading status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Confused by complex terminology</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Disappointed by no save or resume option</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r>
              <a:tr h="1777348">
                <a:tc>
                  <a:txBody>
                    <a:bodyPr anchor="t" rtlCol="false"/>
                    <a:lstStyle/>
                    <a:p>
                      <a:pPr algn="ctr">
                        <a:lnSpc>
                          <a:spcPts val="2640"/>
                        </a:lnSpc>
                        <a:defRPr/>
                      </a:pPr>
                      <a:r>
                        <a:rPr lang="en-US" b="true" sz="2200">
                          <a:solidFill>
                            <a:srgbClr val="000000"/>
                          </a:solidFill>
                          <a:latin typeface="Arimo Bold"/>
                          <a:ea typeface="Arimo Bold"/>
                          <a:cs typeface="Arimo Bold"/>
                          <a:sym typeface="Arimo Bold"/>
                        </a:rPr>
                        <a:t>IMPROVEMENT OPPORTUNITIES</a:t>
                      </a:r>
                      <a:endParaRPr lang="en-US" sz="1100"/>
                    </a:p>
                  </a:txBody>
                  <a:tcPr marL="91902" marR="91902" marT="91902" marB="91902" anchor="ctr">
                    <a:lnL cmpd="sng" algn="ctr" cap="flat" w="9525">
                      <a:solidFill>
                        <a:srgbClr val="666666"/>
                      </a:solidFill>
                      <a:prstDash val="solid"/>
                      <a:round/>
                      <a:headEnd type="none" w="med" len="med"/>
                      <a:tailEnd type="none" w="med" len="med"/>
                    </a:lnL>
                    <a:lnR cmpd="sng" algn="ctr" cap="flat" w="28575">
                      <a:solidFill>
                        <a:srgbClr val="666666"/>
                      </a:solidFill>
                      <a:prstDash val="solid"/>
                      <a:round/>
                      <a:headEnd type="none" w="med" len="med"/>
                      <a:tailEnd type="none" w="med" len="med"/>
                    </a:lnR>
                    <a:lnT cmpd="sng" algn="ctr" cap="flat" w="2857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Clear visual hierarchy and category tags on homepage</a:t>
                      </a:r>
                      <a:endParaRPr lang="en-US" sz="1100"/>
                    </a:p>
                  </a:txBody>
                  <a:tcPr marL="91902" marR="91902" marT="91902" marB="91902" anchor="t">
                    <a:lnL cmpd="sng" algn="ctr" cap="flat" w="2857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Robust search and filters by department, topic, language</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Visible loading and buffering indicators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Simplified language, transcripts, and captions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c>
                  <a:txBody>
                    <a:bodyPr anchor="t" rtlCol="false"/>
                    <a:lstStyle/>
                    <a:p>
                      <a:pPr algn="l">
                        <a:lnSpc>
                          <a:spcPts val="2640"/>
                        </a:lnSpc>
                        <a:defRPr/>
                      </a:pPr>
                      <a:r>
                        <a:rPr lang="en-US" sz="2200">
                          <a:solidFill>
                            <a:srgbClr val="000000"/>
                          </a:solidFill>
                          <a:latin typeface="Arimo"/>
                          <a:ea typeface="Arimo"/>
                          <a:cs typeface="Arimo"/>
                          <a:sym typeface="Arimo"/>
                        </a:rPr>
                        <a:t>Save, continue listening, and personalised recommendations</a:t>
                      </a:r>
                      <a:endParaRPr lang="en-US" sz="1100"/>
                    </a:p>
                    <a:p>
                      <a:pPr algn="l">
                        <a:lnSpc>
                          <a:spcPts val="3359"/>
                        </a:lnSpc>
                      </a:pPr>
                    </a:p>
                  </a:txBody>
                  <a:tcPr marL="91902" marR="91902" marT="91902" marB="91902" anchor="t">
                    <a:lnL cmpd="sng" algn="ctr" cap="flat" w="9525">
                      <a:solidFill>
                        <a:srgbClr val="666666"/>
                      </a:solidFill>
                      <a:prstDash val="solid"/>
                      <a:round/>
                      <a:headEnd type="none" w="med" len="med"/>
                      <a:tailEnd type="none" w="med" len="med"/>
                    </a:lnL>
                    <a:lnR cmpd="sng" algn="ctr" cap="flat" w="9525">
                      <a:solidFill>
                        <a:srgbClr val="666666"/>
                      </a:solidFill>
                      <a:prstDash val="solid"/>
                      <a:round/>
                      <a:headEnd type="none" w="med" len="med"/>
                      <a:tailEnd type="none" w="med" len="med"/>
                    </a:lnR>
                    <a:lnT cmpd="sng" algn="ctr" cap="flat" w="9525">
                      <a:solidFill>
                        <a:srgbClr val="666666"/>
                      </a:solidFill>
                      <a:prstDash val="solid"/>
                      <a:round/>
                      <a:headEnd type="none" w="med" len="med"/>
                      <a:tailEnd type="none" w="med" len="med"/>
                    </a:lnT>
                    <a:lnB cmpd="sng" algn="ctr" cap="flat" w="9525">
                      <a:solidFill>
                        <a:srgbClr val="666666"/>
                      </a:solidFill>
                      <a:prstDash val="solid"/>
                      <a:round/>
                      <a:headEnd type="none" w="med" len="med"/>
                      <a:tailEnd type="none" w="med" len="med"/>
                    </a:lnB>
                    <a:solidFill>
                      <a:srgbClr val="F3F3F3"/>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DAHQkS9sTX4</dc:identifier>
  <dcterms:modified xsi:type="dcterms:W3CDTF">2011-08-01T06:04:30Z</dcterms:modified>
  <cp:revision>1</cp:revision>
  <dc:title>MyGov-Podcast-Persona-Ananya-Shetty.pptx</dc:title>
</cp:coreProperties>
</file>